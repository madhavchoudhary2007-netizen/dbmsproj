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87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APEXGRID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1828800" y="6583680"/>
            <a:ext cx="9829800" cy="0"/>
          </a:xfrm>
          <a:prstGeom prst="line">
            <a:avLst/>
          </a:prstGeom>
          <a:noFill/>
          <a:ln w="7620">
            <a:solidFill>
              <a:srgbClr val="DCE2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594360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9064" y="594360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758952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63656" y="758952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923544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99064" y="923544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34472" y="1088136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63656" y="1088136"/>
            <a:ext cx="164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0241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ApexGrid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Motorsport League &amp; Live Race Operations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70632"/>
            <a:ext cx="1051560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44368"/>
            <a:ext cx="7863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Database-driven race administration, live operations, telemetry and performance analytics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069080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20240" y="4197096"/>
            <a:ext cx="3383280" cy="0"/>
          </a:xfrm>
          <a:prstGeom prst="line">
            <a:avLst/>
          </a:prstGeom>
          <a:noFill/>
          <a:ln w="11430">
            <a:solidFill>
              <a:srgbClr val="C7D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507992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No.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20240" y="4636008"/>
            <a:ext cx="3383280" cy="0"/>
          </a:xfrm>
          <a:prstGeom prst="line">
            <a:avLst/>
          </a:prstGeom>
          <a:noFill/>
          <a:ln w="11430">
            <a:solidFill>
              <a:srgbClr val="C7D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946904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Organization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20240" y="5074920"/>
            <a:ext cx="3383280" cy="0"/>
          </a:xfrm>
          <a:prstGeom prst="line">
            <a:avLst/>
          </a:prstGeom>
          <a:noFill/>
          <a:ln w="11430">
            <a:solidFill>
              <a:srgbClr val="C7D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38581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20240" y="5513832"/>
            <a:ext cx="3383280" cy="0"/>
          </a:xfrm>
          <a:prstGeom prst="line">
            <a:avLst/>
          </a:prstGeom>
          <a:noFill/>
          <a:ln w="11430">
            <a:solidFill>
              <a:srgbClr val="C7D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6263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Product Vision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platform for managing championship data, live race operations and official race-control decisions.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280160"/>
            <a:ext cx="47548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280160"/>
            <a:ext cx="50292" cy="4526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44752"/>
            <a:ext cx="4443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ApexGrid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04672" y="187909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28800"/>
            <a:ext cx="399592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Motorsport operations combine scheduling, race control, penalties, standings and analytics across disconnected tools.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273634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86050"/>
            <a:ext cx="399592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sessions generate high-volume telemetry while official records require strict transactional consistency.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359359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543300"/>
            <a:ext cx="399592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Stewards and pit-wall teams need fast, role-specific views backed by a single trusted data model.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445084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400550"/>
            <a:ext cx="399592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ApexGrid connects operational workflows with historical analytics without mixing authoritative and high-velocity data.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335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goals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1783080"/>
            <a:ext cx="384048" cy="384048"/>
          </a:xfrm>
          <a:prstGeom prst="ellipse">
            <a:avLst/>
          </a:prstGeom>
          <a:solidFill>
            <a:srgbClr val="FDECEC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88366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6245352" y="1764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17739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Championships, teams, drivers, sessions, incidents and standings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2715768"/>
            <a:ext cx="384048" cy="384048"/>
          </a:xfrm>
          <a:prstGeom prst="ellipse">
            <a:avLst/>
          </a:prstGeom>
          <a:solidFill>
            <a:srgbClr val="EAF1FF"/>
          </a:solidFill>
          <a:ln w="1016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81635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6245352" y="26974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27066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accumulation and points calculation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3648456"/>
            <a:ext cx="384048" cy="384048"/>
          </a:xfrm>
          <a:prstGeom prst="ellipse">
            <a:avLst/>
          </a:prstGeom>
          <a:solidFill>
            <a:srgbClr val="FDECEC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74904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6245352" y="36301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363931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Race-critical reservations and official decisions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4581144"/>
            <a:ext cx="384048" cy="384048"/>
          </a:xfrm>
          <a:prstGeom prst="ellipse">
            <a:avLst/>
          </a:prstGeom>
          <a:solidFill>
            <a:srgbClr val="EAF1FF"/>
          </a:solidFill>
          <a:ln w="10160">
            <a:solidFill>
              <a:srgbClr val="2F6F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6817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6245352" y="45628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45720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authoritative records from telemetry volume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29800" y="580644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02952" y="5875020"/>
            <a:ext cx="11795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SCOPE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between user interfaces, transaction services, authoritative relational data and telemetry storage.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86537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20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Applications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3017520" y="186537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EAF1FF"/>
          </a:solidFill>
          <a:ln w="11430">
            <a:solidFill>
              <a:srgbClr val="B9CB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920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5394960" y="1865376"/>
            <a:ext cx="20116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A9B4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19202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7882128" y="1865376"/>
            <a:ext cx="20116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A9B4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9202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10222992" y="1865376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EAF6EC"/>
          </a:solidFill>
          <a:ln w="11430">
            <a:solidFill>
              <a:srgbClr val="B7D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77856" y="192024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578608" y="2194560"/>
            <a:ext cx="438912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2194560"/>
            <a:ext cx="45720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2194560"/>
            <a:ext cx="475488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93808" y="2194560"/>
            <a:ext cx="329184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2971800"/>
            <a:ext cx="1920240" cy="20574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971800"/>
            <a:ext cx="192024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004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017520" y="2971800"/>
            <a:ext cx="1920240" cy="20574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971800"/>
            <a:ext cx="192024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32004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394960" y="2971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2971800"/>
            <a:ext cx="201168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32004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data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882128" y="2971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82128" y="2971800"/>
            <a:ext cx="20116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32004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222992" y="2971800"/>
            <a:ext cx="1325880" cy="2057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22992" y="2971800"/>
            <a:ext cx="132588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69296" y="320040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22960" y="366217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3611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 portal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822960" y="404317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3992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pit-wall dashboard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822960" y="442417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4373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analytics hub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3182112" y="366217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46704" y="3611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roles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3182112" y="404317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3992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orchestration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182112" y="442417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4373880"/>
            <a:ext cx="140817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5559552" y="366217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24144" y="3611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sessions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559552" y="404317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24144" y="3992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Penalties &amp; standings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5559552" y="442417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24144" y="4373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reservations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8046720" y="3662172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2" y="3611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&amp; lap samples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8046720" y="4043172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11312" y="3992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 temperatures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8046720" y="4424172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373880"/>
            <a:ext cx="151790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/ brake streams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10378440" y="366217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43032" y="3611880"/>
            <a:ext cx="84124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10378440" y="404317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43032" y="3992880"/>
            <a:ext cx="84124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10378440" y="442417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43032" y="4373880"/>
            <a:ext cx="84124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3063240" y="5440680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1F4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559612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official race state lives in PostgreSQL; high-volume telemetry is stored as flexible documents and linked by session / driver identifiers.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Model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EER view showing role specialization and the race-event entities that drive operations.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3504" y="1225296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293876"/>
            <a:ext cx="11795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2240280" y="1234440"/>
            <a:ext cx="1298448" cy="512064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11430">
            <a:solidFill>
              <a:srgbClr val="AFC5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144" y="12893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212848"/>
            <a:ext cx="14173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267712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176272" y="2212848"/>
            <a:ext cx="14173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267712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STEWARD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593592" y="2212848"/>
            <a:ext cx="14173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267712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PRINCIPAL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889504" y="1746504"/>
            <a:ext cx="0" cy="201168"/>
          </a:xfrm>
          <a:prstGeom prst="line">
            <a:avLst/>
          </a:prstGeom>
          <a:noFill/>
          <a:ln w="12700">
            <a:solidFill>
              <a:srgbClr val="95A2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1984248"/>
            <a:ext cx="2834640" cy="0"/>
          </a:xfrm>
          <a:prstGeom prst="line">
            <a:avLst/>
          </a:prstGeom>
          <a:noFill/>
          <a:ln w="12700">
            <a:solidFill>
              <a:srgbClr val="95A2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984248"/>
            <a:ext cx="0" cy="228600"/>
          </a:xfrm>
          <a:prstGeom prst="line">
            <a:avLst/>
          </a:prstGeom>
          <a:noFill/>
          <a:ln w="12700">
            <a:solidFill>
              <a:srgbClr val="95A2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9504" y="1984248"/>
            <a:ext cx="0" cy="228600"/>
          </a:xfrm>
          <a:prstGeom prst="line">
            <a:avLst/>
          </a:prstGeom>
          <a:noFill/>
          <a:ln w="12700">
            <a:solidFill>
              <a:srgbClr val="95A2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984248"/>
            <a:ext cx="0" cy="228600"/>
          </a:xfrm>
          <a:prstGeom prst="line">
            <a:avLst/>
          </a:prstGeom>
          <a:noFill/>
          <a:ln w="12700">
            <a:solidFill>
              <a:srgbClr val="95A2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18288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specializes into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5715000" y="1225296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1293876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OPERATIONS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715000" y="1993392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9864" y="2048256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1993392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2048256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EVENT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464040" y="1993392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18904" y="2048256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SESSION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40880" y="2249424"/>
            <a:ext cx="548640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15400" y="2249424"/>
            <a:ext cx="548640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89320" y="324612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4E0"/>
          </a:solidFill>
          <a:ln w="11430">
            <a:solidFill>
              <a:srgbClr val="E7C8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4184" y="3300984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89520" y="324612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11430">
            <a:solidFill>
              <a:srgbClr val="E7B1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3300984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464040" y="324612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EAF6EC"/>
          </a:solidFill>
          <a:ln w="11430">
            <a:solidFill>
              <a:srgbClr val="BBDA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18904" y="3300984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PACKET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96912" y="3246120"/>
            <a:ext cx="594360" cy="-749808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022592" y="28346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8247888" y="2496312"/>
            <a:ext cx="0" cy="749808"/>
          </a:xfrm>
          <a:prstGeom prst="line">
            <a:avLst/>
          </a:prstGeom>
          <a:noFill/>
          <a:ln w="1397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22408" y="2496312"/>
            <a:ext cx="0" cy="749808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680960" y="400507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records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96712" y="4617720"/>
            <a:ext cx="53492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4818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choices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25312" y="5198364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9904" y="5148072"/>
            <a:ext cx="4544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specialization keeps shared identity fields centralized while roles retain role-specific attributes.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925312" y="5381244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5330952"/>
            <a:ext cx="4544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TelemetryPacket and IncidentReport are tied to parent race/session records for lifecycle integrity.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 Model &amp; Normalization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transactional schema is structured for predictable joins, clean ownership of facts and minimal update anomalies.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1353312"/>
            <a:ext cx="3246120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53312"/>
            <a:ext cx="324612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62763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2139696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17420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0664" y="2587752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66547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RaceEvents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40664" y="3035808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113532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40664" y="3483864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56158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RaceSessions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730752" y="1353312"/>
            <a:ext cx="3246120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1353312"/>
            <a:ext cx="3246120" cy="914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62763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Teams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95344" y="2139696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2217420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895344" y="2587752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266547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895344" y="3035808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3113532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895344" y="3483864"/>
            <a:ext cx="2916936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356158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TeamMemberships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885432" y="1353312"/>
            <a:ext cx="2258568" cy="2999232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85432" y="1353312"/>
            <a:ext cx="225856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6276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Control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50024" y="2139696"/>
            <a:ext cx="1929384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2217420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IncidentReports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050024" y="2587752"/>
            <a:ext cx="1929384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2665476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Penalties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050024" y="3035808"/>
            <a:ext cx="1929384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9752" y="3113532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PenaltyPoints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326880" y="1353312"/>
            <a:ext cx="2258568" cy="2999232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0" y="1353312"/>
            <a:ext cx="22585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91472" y="16276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91472" y="2139696"/>
            <a:ext cx="1929384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2217420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SessionResults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9491472" y="2587752"/>
            <a:ext cx="1929384" cy="310896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0" y="2665476"/>
            <a:ext cx="1709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DriverStandings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76072" y="4800600"/>
            <a:ext cx="11009376" cy="1115568"/>
          </a:xfrm>
          <a:prstGeom prst="roundRect">
            <a:avLst>
              <a:gd name="adj" fmla="val 4098"/>
            </a:avLst>
          </a:prstGeom>
          <a:solidFill>
            <a:srgbClr val="F1F4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047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principles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2578608" y="500176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507034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578608" y="5404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Non-key attributes describe the key, the whole key and nothing but the key.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5486400" y="500176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507034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5486400" y="5404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with stronger dependency constraints are decomposed where every determinant is a candidate key.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394192" y="500176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7344" y="507034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8394192" y="5404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Driver, team, session and result facts remain independent—preventing duplicated names, repeated status fields and inconsistent updates.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Integrity, Indexing &amp; Query Performance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 enforced at write time; indexing is targeted at the access patterns that dominate race operations.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1353312"/>
            <a:ext cx="3456432" cy="4498848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53312"/>
            <a:ext cx="50292" cy="44988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1790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rules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41248" y="1988820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38528"/>
            <a:ext cx="2761488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protect championship → event → session relationships and official result ownership.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841248" y="2825496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75204"/>
            <a:ext cx="2761488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constraints validate tire compounds, pit-stop durations, point values and race-status transitions.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841248" y="366217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11880"/>
            <a:ext cx="2761488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constraints protect driver licence numbers and prevent duplicate result rows for the same driver/session.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841248" y="4498848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48556"/>
            <a:ext cx="2761488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updates are restricted to stable identifiers where controlled changes must propagate safely.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4315968" y="1353312"/>
            <a:ext cx="3401568" cy="449884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5968" y="1353312"/>
            <a:ext cx="50292" cy="44988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517904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indexes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608576" y="188366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95224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BTREE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486400" y="19293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(SessionID, LapTime)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590288" y="251917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46888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leaderboard and lap-ranking queries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590288" y="306781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1752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range scans for lap-time windows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590288" y="36164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56616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ordered retrieval without an extra sort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599432" y="4553712"/>
            <a:ext cx="2724912" cy="640080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8890">
            <a:solidFill>
              <a:srgbClr val="C6D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7274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workload: session results + live timing reads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010144" y="1353312"/>
            <a:ext cx="3584448" cy="44988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1353312"/>
            <a:ext cx="50292" cy="44988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1517904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lookups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302752" y="188366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5904" y="195224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9180576" y="1929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DriverLicenseNumber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8284464" y="251917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246888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lookup for driver identity and licence validation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8284464" y="306781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9056" y="301752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equality predicates dominate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284464" y="361645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49056" y="3566160"/>
            <a:ext cx="2688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 a UNIQUE constraint for clean identity resolution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284464" y="4553712"/>
            <a:ext cx="2834640" cy="640080"/>
          </a:xfrm>
          <a:prstGeom prst="roundRect">
            <a:avLst>
              <a:gd name="adj" fmla="val 7143"/>
            </a:avLst>
          </a:prstGeom>
          <a:solidFill>
            <a:srgbClr val="EAF6EC"/>
          </a:solidFill>
          <a:ln w="8890">
            <a:solidFill>
              <a:srgbClr val="C3DE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7274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index query paths—not every column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Automation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enforce immediate official state changes while stored procedures handle repeatable standings calculations.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3504" y="129844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6702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accumulation after steward approval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1572768" cy="566928"/>
          </a:xfrm>
          <a:prstGeom prst="roundRect">
            <a:avLst>
              <a:gd name="adj" fmla="val 6452"/>
            </a:avLst>
          </a:prstGeom>
          <a:solidFill>
            <a:srgbClr val="FDECEC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48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Approved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971800" y="1993392"/>
            <a:ext cx="157276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2048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Record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212080" y="1993392"/>
            <a:ext cx="1572768" cy="566928"/>
          </a:xfrm>
          <a:prstGeom prst="roundRect">
            <a:avLst>
              <a:gd name="adj" fmla="val 6452"/>
            </a:avLst>
          </a:prstGeom>
          <a:solidFill>
            <a:srgbClr val="EAF1FF"/>
          </a:solidFill>
          <a:ln w="11430">
            <a:solidFill>
              <a:srgbClr val="AFC5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2048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Points +n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452360" y="1993392"/>
            <a:ext cx="1572768" cy="566928"/>
          </a:xfrm>
          <a:prstGeom prst="roundRect">
            <a:avLst>
              <a:gd name="adj" fmla="val 6452"/>
            </a:avLst>
          </a:prstGeom>
          <a:solidFill>
            <a:srgbClr val="FFF4E0"/>
          </a:solidFill>
          <a:ln w="11430">
            <a:solidFill>
              <a:srgbClr val="E9C7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7224" y="2048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pts → Race Ban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304288" y="2276856"/>
            <a:ext cx="667512" cy="0"/>
          </a:xfrm>
          <a:prstGeom prst="line">
            <a:avLst/>
          </a:prstGeom>
          <a:noFill/>
          <a:ln w="1651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44568" y="2276856"/>
            <a:ext cx="667512" cy="0"/>
          </a:xfrm>
          <a:prstGeom prst="line">
            <a:avLst/>
          </a:prstGeom>
          <a:noFill/>
          <a:ln w="1651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84848" y="2276856"/>
            <a:ext cx="66751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9808" y="2761488"/>
            <a:ext cx="8293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rule execution keeps the penalty ledger and driver eligibility synchronized.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" y="342900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49758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700784" y="3456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recalculate_standings(championship_id)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22376" y="4041648"/>
            <a:ext cx="192024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224528"/>
            <a:ext cx="301752" cy="301752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068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261872" y="42062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explicit cursor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6968" y="4617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completed session results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42616" y="4654296"/>
            <a:ext cx="338328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80944" y="4041648"/>
            <a:ext cx="192024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4224528"/>
            <a:ext cx="301752" cy="301752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27248" y="43068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3520440" y="42062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base points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finishing-position rules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901184" y="4654296"/>
            <a:ext cx="338328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239512" y="4041648"/>
            <a:ext cx="192024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85816" y="4224528"/>
            <a:ext cx="301752" cy="301752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43068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5779008" y="42062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bonuses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04104" y="4617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 + fastest-lap additions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159752" y="4654296"/>
            <a:ext cx="338328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98080" y="4041648"/>
            <a:ext cx="192024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4224528"/>
            <a:ext cx="301752" cy="301752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43068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8037576" y="42062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2672" y="4617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and season totals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418320" y="4654296"/>
            <a:ext cx="338328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756648" y="4041648"/>
            <a:ext cx="192024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02952" y="4224528"/>
            <a:ext cx="301752" cy="301752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02952" y="43068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50" name="Text 48"/>
          <p:cNvSpPr/>
          <p:nvPr/>
        </p:nvSpPr>
        <p:spPr>
          <a:xfrm>
            <a:off x="10296144" y="42062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&amp; write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921240" y="4617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current standings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 &amp; Concurrency Control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Pit-box reservation is modeled as a race-critical transaction where simultaneous requests must never double-book the same crew bay.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1353312"/>
            <a:ext cx="3154680" cy="449884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53312"/>
            <a:ext cx="50292" cy="44988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17904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pattern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68680" y="1883664"/>
            <a:ext cx="292608" cy="292608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92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1325880" y="186537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transaction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868680" y="2496312"/>
            <a:ext cx="292608" cy="292608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78608"/>
            <a:ext cx="292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1325880" y="247802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pit_box ... FOR UPDATE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68680" y="3108960"/>
            <a:ext cx="292608" cy="292608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91256"/>
            <a:ext cx="292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1325880" y="309067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bay availability / overlap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68680" y="3721608"/>
            <a:ext cx="292608" cy="292608"/>
          </a:xfrm>
          <a:prstGeom prst="ellipse">
            <a:avLst/>
          </a:prstGeom>
          <a:solidFill>
            <a:srgbClr val="EAF1FF"/>
          </a:solidFill>
          <a:ln w="889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03904"/>
            <a:ext cx="292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10" dirty="0"/>
          </a:p>
        </p:txBody>
      </p:sp>
      <p:sp>
        <p:nvSpPr>
          <p:cNvPr id="19" name="Text 17"/>
          <p:cNvSpPr/>
          <p:nvPr/>
        </p:nvSpPr>
        <p:spPr>
          <a:xfrm>
            <a:off x="1325880" y="370332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reservation or reject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4334256"/>
            <a:ext cx="292608" cy="292608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16552"/>
            <a:ext cx="292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10" dirty="0"/>
          </a:p>
        </p:txBody>
      </p:sp>
      <p:sp>
        <p:nvSpPr>
          <p:cNvPr id="22" name="Text 20"/>
          <p:cNvSpPr/>
          <p:nvPr/>
        </p:nvSpPr>
        <p:spPr>
          <a:xfrm>
            <a:off x="1325880" y="43159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/ ROLLBACK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160520" y="1353312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1421892"/>
            <a:ext cx="1728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REQUEST EXAMPLE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4160520" y="177393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teams request the same pit box within the same safety-car window.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160520" y="24688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60520" y="37490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57800" y="230428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1430">
            <a:solidFill>
              <a:srgbClr val="2F6F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23591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BOX 3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6537960" y="230428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23591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7818120" y="230428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72984" y="23591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9098280" y="230428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144" y="23591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5257800" y="358444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1430">
            <a:solidFill>
              <a:srgbClr val="E2BE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12664" y="363931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6537960" y="358444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363931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AFTER COMMIT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818120" y="358444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1430">
            <a:solidFill>
              <a:srgbClr val="E7B4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72984" y="363931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BUSY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9098280" y="3584448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53144" y="363931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6300216" y="2532888"/>
            <a:ext cx="237744" cy="0"/>
          </a:xfrm>
          <a:prstGeom prst="line">
            <a:avLst/>
          </a:prstGeom>
          <a:noFill/>
          <a:ln w="1143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300216" y="3813048"/>
            <a:ext cx="237744" cy="0"/>
          </a:xfrm>
          <a:prstGeom prst="line">
            <a:avLst/>
          </a:prstGeom>
          <a:noFill/>
          <a:ln w="1143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80376" y="2532888"/>
            <a:ext cx="237744" cy="0"/>
          </a:xfrm>
          <a:prstGeom prst="line">
            <a:avLst/>
          </a:prstGeom>
          <a:noFill/>
          <a:ln w="1143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580376" y="3813048"/>
            <a:ext cx="237744" cy="0"/>
          </a:xfrm>
          <a:prstGeom prst="line">
            <a:avLst/>
          </a:prstGeom>
          <a:noFill/>
          <a:ln w="1143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860536" y="2532888"/>
            <a:ext cx="237744" cy="0"/>
          </a:xfrm>
          <a:prstGeom prst="line">
            <a:avLst/>
          </a:prstGeom>
          <a:noFill/>
          <a:ln w="1143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860536" y="3813048"/>
            <a:ext cx="237744" cy="0"/>
          </a:xfrm>
          <a:prstGeom prst="line">
            <a:avLst/>
          </a:prstGeom>
          <a:noFill/>
          <a:ln w="1143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160520" y="4709160"/>
            <a:ext cx="6821424" cy="96012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09160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Atomicity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709160" y="5166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All-or-nothing reservation</a:t>
            </a:r>
            <a:endParaRPr lang="en-US" sz="640" dirty="0"/>
          </a:p>
        </p:txBody>
      </p:sp>
      <p:sp>
        <p:nvSpPr>
          <p:cNvPr id="54" name="Text 52"/>
          <p:cNvSpPr/>
          <p:nvPr/>
        </p:nvSpPr>
        <p:spPr>
          <a:xfrm>
            <a:off x="600760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6355080" y="5166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overlapping bookings</a:t>
            </a:r>
            <a:endParaRPr lang="en-US" sz="640" dirty="0"/>
          </a:p>
        </p:txBody>
      </p:sp>
      <p:sp>
        <p:nvSpPr>
          <p:cNvPr id="57" name="Text 55"/>
          <p:cNvSpPr/>
          <p:nvPr/>
        </p:nvSpPr>
        <p:spPr>
          <a:xfrm>
            <a:off x="765352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01000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8001000" y="5166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transaction sees committed state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929944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646920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9646920" y="5166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booking survives failure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Polyglot Database Design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store is assigned the workload it handles best while shared identifiers preserve a coherent system view.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1353312"/>
            <a:ext cx="3794760" cy="4535424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53312"/>
            <a:ext cx="50292" cy="45354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17904"/>
            <a:ext cx="3483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authoritative core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50392" y="19705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920240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Championships, events, sessions and schedules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50392" y="25100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45973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Drivers, teams and official standings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50392" y="304952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999232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decisions and penalty records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50392" y="358902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538728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Pit-box reservations and transaction locks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50392" y="41285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407822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procedures, triggers, views and indexes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536192" y="5166360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9344" y="5234940"/>
            <a:ext cx="1728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+ schema integrity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818120" y="1353312"/>
            <a:ext cx="3794760" cy="4535424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353312"/>
            <a:ext cx="50292" cy="45354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1517904"/>
            <a:ext cx="3483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telemetry store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101584" y="197053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1920240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sensor fields per session / vehicle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101584" y="2510028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5973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Lap, sector and tire-temperature samples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101584" y="3049524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2999232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/ brake / speed traces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101584" y="3589020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3538728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High-rate ingest without rigid row expansion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101584" y="4128516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6176" y="407822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retention and analytics pipelines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741664" y="516636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4816" y="523494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document model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4773168" y="2103120"/>
            <a:ext cx="2615184" cy="26517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23591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identity boundary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57800" y="283464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7620">
            <a:solidFill>
              <a:srgbClr val="E0E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2916936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SessionID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257800" y="322783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7620">
            <a:solidFill>
              <a:srgbClr val="E0E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3310128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DriverID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257800" y="3621024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7620">
            <a:solidFill>
              <a:srgbClr val="E0E6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703320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VehicleID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257800" y="4014216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7620">
            <a:solidFill>
              <a:srgbClr val="E0E6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409651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370832" y="3419856"/>
            <a:ext cx="402336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388352" y="3419856"/>
            <a:ext cx="42976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526280" y="50749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services join official context with telemetry only when needed—keeping transaction paths clean and telemetry ingest scalable.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Interfaces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focused interfaces turn the database design into operational workflows for race control, pit-wall teams and performance analysis.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1417320"/>
            <a:ext cx="3127248" cy="4434840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417320"/>
            <a:ext cx="3127248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3736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 Incident Portal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267712"/>
            <a:ext cx="2304288" cy="1216152"/>
          </a:xfrm>
          <a:prstGeom prst="roundRect">
            <a:avLst>
              <a:gd name="adj" fmla="val 3008"/>
            </a:avLst>
          </a:prstGeom>
          <a:solidFill>
            <a:srgbClr val="F6F8FB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" y="2496312"/>
            <a:ext cx="621792" cy="621792"/>
          </a:xfrm>
          <a:prstGeom prst="rect">
            <a:avLst/>
          </a:prstGeom>
          <a:solidFill>
            <a:srgbClr val="FDECEC"/>
          </a:solidFill>
          <a:ln w="6350">
            <a:solidFill>
              <a:srgbClr val="E7B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2734056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1993392" y="2532888"/>
            <a:ext cx="960120" cy="173736"/>
          </a:xfrm>
          <a:prstGeom prst="roundRect">
            <a:avLst>
              <a:gd name="adj" fmla="val 15789"/>
            </a:avLst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2798064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3063240"/>
            <a:ext cx="896112" cy="173736"/>
          </a:xfrm>
          <a:prstGeom prst="roundRect">
            <a:avLst>
              <a:gd name="adj" fmla="val 15789"/>
            </a:avLst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845052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94760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incidents by event / lap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896112" y="4155948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105656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timestamps and driver context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96112" y="4466844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416552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steward decisions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96112" y="4777740"/>
            <a:ext cx="82296" cy="822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727448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grid drops or time penalties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1417320" y="5394960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46354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decisions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114800" y="1417320"/>
            <a:ext cx="3127248" cy="4434840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1417320"/>
            <a:ext cx="3127248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4256" y="173736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Pit-Wall 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2267712"/>
            <a:ext cx="2304288" cy="1216152"/>
          </a:xfrm>
          <a:prstGeom prst="roundRect">
            <a:avLst>
              <a:gd name="adj" fmla="val 3008"/>
            </a:avLst>
          </a:prstGeom>
          <a:solidFill>
            <a:srgbClr val="F6F8FB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542032"/>
            <a:ext cx="1005840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07208"/>
            <a:ext cx="1344168" cy="109728"/>
          </a:xfrm>
          <a:prstGeom prst="rect">
            <a:avLst/>
          </a:prstGeom>
          <a:solidFill>
            <a:srgbClr val="7DA6F5"/>
          </a:solidFill>
          <a:ln w="12700">
            <a:solidFill>
              <a:srgbClr val="7DA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72384"/>
            <a:ext cx="1673352" cy="109728"/>
          </a:xfrm>
          <a:prstGeom prst="rect">
            <a:avLst/>
          </a:prstGeom>
          <a:solidFill>
            <a:srgbClr val="A7C2F7"/>
          </a:solidFill>
          <a:ln w="12700">
            <a:solidFill>
              <a:srgbClr val="A7C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845052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794760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running order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434840" y="4155948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4105656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queue and bay availability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4434840" y="4466844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4416552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 wear / temperature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4434840" y="4777740"/>
            <a:ext cx="82296" cy="822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4727448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Safety-car and session status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956048" y="5394960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546354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7653528" y="1417320"/>
            <a:ext cx="3127248" cy="4434840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53528" y="1417320"/>
            <a:ext cx="3127248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72984" y="173736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Career &amp; Analytics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65008" y="2267712"/>
            <a:ext cx="2304288" cy="1216152"/>
          </a:xfrm>
          <a:prstGeom prst="roundRect">
            <a:avLst>
              <a:gd name="adj" fmla="val 3008"/>
            </a:avLst>
          </a:prstGeom>
          <a:solidFill>
            <a:srgbClr val="F6F8FB"/>
          </a:solidFill>
          <a:ln w="7620">
            <a:solidFill>
              <a:srgbClr val="E2E7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11896" y="3108960"/>
            <a:ext cx="1682496" cy="-512064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11896" y="3108960"/>
            <a:ext cx="0" cy="-685800"/>
          </a:xfrm>
          <a:prstGeom prst="line">
            <a:avLst/>
          </a:prstGeom>
          <a:noFill/>
          <a:ln w="6350">
            <a:solidFill>
              <a:srgbClr val="C9D1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11896" y="3108960"/>
            <a:ext cx="1810512" cy="0"/>
          </a:xfrm>
          <a:prstGeom prst="line">
            <a:avLst/>
          </a:prstGeom>
          <a:noFill/>
          <a:ln w="6350">
            <a:solidFill>
              <a:srgbClr val="C9D1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3568" y="3845052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3794760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and circuit filters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7973568" y="4155948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4105656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Podiums, points and wins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7973568" y="4466844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4416552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and pace trends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7973568" y="4777740"/>
            <a:ext cx="82296" cy="822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727448"/>
            <a:ext cx="2322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join-based KPIs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8494776" y="5394960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67928" y="546354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Race Operations 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workflow connects setup, live session control, official decisions, recalculation and analytics.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3560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90" dirty="0"/>
          </a:p>
        </p:txBody>
      </p:sp>
      <p:sp>
        <p:nvSpPr>
          <p:cNvPr id="7" name="Text 5"/>
          <p:cNvSpPr/>
          <p:nvPr/>
        </p:nvSpPr>
        <p:spPr>
          <a:xfrm>
            <a:off x="1261872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setup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championship, teams, drivers, circuit and event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464040" y="1408176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37192" y="147675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+ SQL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850392" y="1764792"/>
            <a:ext cx="0" cy="402336"/>
          </a:xfrm>
          <a:prstGeom prst="line">
            <a:avLst/>
          </a:prstGeom>
          <a:noFill/>
          <a:ln w="10160">
            <a:solidFill>
              <a:srgbClr val="CCD4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85416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8600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90" dirty="0"/>
          </a:p>
        </p:txBody>
      </p:sp>
      <p:sp>
        <p:nvSpPr>
          <p:cNvPr id="14" name="Text 12"/>
          <p:cNvSpPr/>
          <p:nvPr/>
        </p:nvSpPr>
        <p:spPr>
          <a:xfrm>
            <a:off x="126187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2167128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race session and begin telemetry ingestion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9464040" y="2157984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222656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MongoDB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50392" y="2514600"/>
            <a:ext cx="0" cy="402336"/>
          </a:xfrm>
          <a:prstGeom prst="line">
            <a:avLst/>
          </a:prstGeom>
          <a:noFill/>
          <a:ln w="10160">
            <a:solidFill>
              <a:srgbClr val="CCD4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35224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3580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90" dirty="0"/>
          </a:p>
        </p:txBody>
      </p:sp>
      <p:sp>
        <p:nvSpPr>
          <p:cNvPr id="21" name="Text 19"/>
          <p:cNvSpPr/>
          <p:nvPr/>
        </p:nvSpPr>
        <p:spPr>
          <a:xfrm>
            <a:off x="1261872" y="2916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request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2916936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a pit box transactionally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464040" y="2907792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2976372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+ locks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850392" y="3264408"/>
            <a:ext cx="0" cy="402336"/>
          </a:xfrm>
          <a:prstGeom prst="line">
            <a:avLst/>
          </a:prstGeom>
          <a:noFill/>
          <a:ln w="10160">
            <a:solidFill>
              <a:srgbClr val="CCD4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85032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8561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90" dirty="0"/>
          </a:p>
        </p:txBody>
      </p:sp>
      <p:sp>
        <p:nvSpPr>
          <p:cNvPr id="28" name="Text 26"/>
          <p:cNvSpPr/>
          <p:nvPr/>
        </p:nvSpPr>
        <p:spPr>
          <a:xfrm>
            <a:off x="1261872" y="3666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3666744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 decision writes penalty + trigger side effects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9464040" y="3657600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372618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50392" y="4014216"/>
            <a:ext cx="0" cy="402336"/>
          </a:xfrm>
          <a:prstGeom prst="line">
            <a:avLst/>
          </a:prstGeom>
          <a:noFill/>
          <a:ln w="10160">
            <a:solidFill>
              <a:srgbClr val="CCD4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34840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354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1261872" y="4416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4416552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recalculates points and ranking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9464040" y="4407408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37192" y="447598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+ rules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50392" y="4764024"/>
            <a:ext cx="0" cy="402336"/>
          </a:xfrm>
          <a:prstGeom prst="line">
            <a:avLst/>
          </a:prstGeom>
          <a:noFill/>
          <a:ln w="10160">
            <a:solidFill>
              <a:srgbClr val="CCD4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18464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8523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90" dirty="0"/>
          </a:p>
        </p:txBody>
      </p:sp>
      <p:sp>
        <p:nvSpPr>
          <p:cNvPr id="42" name="Text 40"/>
          <p:cNvSpPr/>
          <p:nvPr/>
        </p:nvSpPr>
        <p:spPr>
          <a:xfrm>
            <a:off x="1261872" y="5166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5166360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expose official and analytical outputs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9464040" y="5157216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37192" y="522579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+ KPI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243584" y="6035040"/>
            <a:ext cx="9564624" cy="411480"/>
          </a:xfrm>
          <a:prstGeom prst="roundRect">
            <a:avLst>
              <a:gd name="adj" fmla="val 8889"/>
            </a:avLst>
          </a:prstGeom>
          <a:solidFill>
            <a:srgbClr val="F1F4F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99616" y="6153912"/>
            <a:ext cx="9052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underlying identifiers follow the data through live operations, official state changes and historical analysis—avoiding duplicate sources of truth.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Value &amp; Future Roadmap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932688" cy="0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ApexGrid is designed as a realistic motorsport operations platform rather than a generic CRUD application.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demonstrates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219456" cy="219456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1566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2416" y="18470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domain model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907792" y="18470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Championship, race control, driver and team data share a consistent schema.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58368" y="2596896"/>
            <a:ext cx="219456" cy="219456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2890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42416" y="2560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reliability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907792" y="2560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decisions and pit reservations remain protected under concurrency.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58368" y="3310128"/>
            <a:ext cx="219456" cy="219456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421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42416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automation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907792" y="327355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and procedures reduce manual state management.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58368" y="4023360"/>
            <a:ext cx="219456" cy="219456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5536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42416" y="3986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telemetry handling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907792" y="39867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sensor data is isolated from critical transactional paths.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58368" y="4736592"/>
            <a:ext cx="219456" cy="219456"/>
          </a:xfrm>
          <a:prstGeom prst="ellipse">
            <a:avLst/>
          </a:prstGeom>
          <a:solidFill>
            <a:srgbClr val="EAF6EC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7685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 interfaces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907792" y="470001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Stewards, teams and analysts get role-specific views from the same trusted system.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419088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55664" y="1837944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90652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059168" y="186537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8247888" y="18379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/ Kafka pipeline for continuous timing updates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6455664" y="2551176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261975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059168" y="25786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8247888" y="255117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telemetry retention and read replicas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455664" y="3264408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333298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7059168" y="32918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8247888" y="32644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trail, role policy and steward decision signing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455664" y="3977640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404622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7059168" y="400507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8247888" y="39776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tire degradation and pit-window recommendations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6455664" y="4690872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475945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7059168" y="47183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8247888" y="46908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metrics, query tracing and alerting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400800" y="5650992"/>
            <a:ext cx="4901184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58155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ApexGrid: reliable race operations, real-time insight and a clean path to scale.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8793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ApexGrid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ApexGrid: Motorsport League &amp; Live Race Operations Management System</dc:title>
  <dc:subject>ApexGrid project presentation</dc:subject>
  <dc:creator>OpenAI</dc:creator>
  <cp:lastModifiedBy>OpenAI</cp:lastModifiedBy>
  <cp:revision>1</cp:revision>
  <dcterms:created xsi:type="dcterms:W3CDTF">2026-10-05T04:53:42Z</dcterms:created>
  <dcterms:modified xsi:type="dcterms:W3CDTF">2026-10-05T04:53:42Z</dcterms:modified>
</cp:coreProperties>
</file>